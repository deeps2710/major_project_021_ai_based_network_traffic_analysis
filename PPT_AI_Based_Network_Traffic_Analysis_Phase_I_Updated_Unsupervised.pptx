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EE715-6EA5-4A17-B6E2-ECD255E33445}" v="17" dt="2026-09-13T16:57:04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43" Type="http://customschemas.google.com/relationships/presentationmetadata" Target="meta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3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</a:t>
            </a:r>
          </a:p>
        </p:txBody>
      </p:sp>
      <p:sp>
        <p:nvSpPr>
          <p:cNvPr id="10" name="Google Shape;101;p1">
            <a:extLst>
              <a:ext uri="{FF2B5EF4-FFF2-40B4-BE49-F238E27FC236}">
                <a16:creationId xmlns:a16="http://schemas.microsoft.com/office/drawing/2014/main" id="{532D8B79-3671-B11C-094C-6E708D639415}"/>
              </a:ext>
            </a:extLst>
          </p:cNvPr>
          <p:cNvSpPr txBox="1"/>
          <p:nvPr/>
        </p:nvSpPr>
        <p:spPr>
          <a:xfrm>
            <a:off x="685997" y="3572786"/>
            <a:ext cx="10789723" cy="151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ID- 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PT021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Title- </a:t>
            </a:r>
            <a:r>
              <a:rPr lang="en-US" dirty="0">
                <a:solidFill>
                  <a:schemeClr val="tx1"/>
                </a:solidFill>
              </a:rPr>
              <a:t>AI – Based Network Traffic Analysis</a:t>
            </a:r>
          </a:p>
          <a:p>
            <a:pPr marL="0" indent="0" algn="l">
              <a:spcBef>
                <a:spcPts val="0"/>
              </a:spcBef>
            </a:pPr>
            <a:endParaRPr lang="en-US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Google Shape;101;p1">
            <a:extLst>
              <a:ext uri="{FF2B5EF4-FFF2-40B4-BE49-F238E27FC236}">
                <a16:creationId xmlns:a16="http://schemas.microsoft.com/office/drawing/2014/main" id="{8A4B6369-51C9-9258-3881-5AFB2BCF720D}"/>
              </a:ext>
            </a:extLst>
          </p:cNvPr>
          <p:cNvSpPr txBox="1"/>
          <p:nvPr/>
        </p:nvSpPr>
        <p:spPr>
          <a:xfrm>
            <a:off x="4091940" y="374690"/>
            <a:ext cx="3931920" cy="9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Major Project Phase-1 Presentation</a:t>
            </a:r>
          </a:p>
        </p:txBody>
      </p:sp>
      <p:sp>
        <p:nvSpPr>
          <p:cNvPr id="13" name="Google Shape;101;p1">
            <a:extLst>
              <a:ext uri="{FF2B5EF4-FFF2-40B4-BE49-F238E27FC236}">
                <a16:creationId xmlns:a16="http://schemas.microsoft.com/office/drawing/2014/main" id="{225131F6-CE3B-9A47-8C56-125C5F039866}"/>
              </a:ext>
            </a:extLst>
          </p:cNvPr>
          <p:cNvSpPr txBox="1"/>
          <p:nvPr/>
        </p:nvSpPr>
        <p:spPr>
          <a:xfrm>
            <a:off x="758734" y="4798099"/>
            <a:ext cx="4857206" cy="101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Guide-</a:t>
            </a:r>
            <a:r>
              <a:rPr lang="en-IN" dirty="0"/>
              <a:t> </a:t>
            </a:r>
            <a:r>
              <a:rPr lang="en-IN" sz="2000" dirty="0"/>
              <a:t>Ms. Apoorva Jain</a:t>
            </a:r>
            <a:endParaRPr lang="en-US" sz="2000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Google Shape;101;p1">
            <a:extLst>
              <a:ext uri="{FF2B5EF4-FFF2-40B4-BE49-F238E27FC236}">
                <a16:creationId xmlns:a16="http://schemas.microsoft.com/office/drawing/2014/main" id="{C1AC86C6-55A7-DE51-9E61-26D1C355E11A}"/>
              </a:ext>
            </a:extLst>
          </p:cNvPr>
          <p:cNvSpPr txBox="1">
            <a:spLocks noGrp="1"/>
          </p:cNvSpPr>
          <p:nvPr/>
        </p:nvSpPr>
        <p:spPr>
          <a:xfrm>
            <a:off x="5688677" y="4798099"/>
            <a:ext cx="6198522" cy="140539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>
              <a:spcBef>
                <a:spcPts val="0"/>
              </a:spcBef>
            </a:pP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Members- </a:t>
            </a:r>
            <a:r>
              <a:rPr lang="en-IN" sz="1800" dirty="0"/>
              <a:t>Deepshikha Rani (2410030760)</a:t>
            </a:r>
          </a:p>
          <a:p>
            <a:pPr marL="0" lvl="0" indent="0">
              <a:spcBef>
                <a:spcPts val="0"/>
              </a:spcBef>
            </a:pPr>
            <a:r>
              <a:rPr lang="en-IN" sz="1800" dirty="0"/>
              <a:t>                             Himansh </a:t>
            </a:r>
            <a:r>
              <a:rPr lang="en-IN" sz="1800" dirty="0" err="1"/>
              <a:t>Papnai</a:t>
            </a:r>
            <a:r>
              <a:rPr lang="en-IN" sz="1800" dirty="0"/>
              <a:t> (2410030812)</a:t>
            </a:r>
          </a:p>
          <a:p>
            <a:pPr marL="0" lvl="0" indent="0">
              <a:spcBef>
                <a:spcPts val="0"/>
              </a:spcBef>
            </a:pPr>
            <a:r>
              <a:rPr lang="en-IN" sz="1800" dirty="0"/>
              <a:t>                           Bhupesh Singh (2410030786)</a:t>
            </a:r>
          </a:p>
          <a:p>
            <a:pPr marL="0" indent="0">
              <a:spcBef>
                <a:spcPts val="0"/>
              </a:spcBef>
            </a:pPr>
            <a:r>
              <a:rPr lang="en-IN" sz="1800" dirty="0"/>
              <a:t>                                  Ananya </a:t>
            </a:r>
            <a:r>
              <a:rPr lang="en-IN" sz="1800" dirty="0" err="1"/>
              <a:t>Vashishtha</a:t>
            </a:r>
            <a:r>
              <a:rPr lang="en-IN" sz="1800" dirty="0"/>
              <a:t> (2410030128)</a:t>
            </a:r>
          </a:p>
          <a:p>
            <a:pPr marL="0" lvl="0" indent="0">
              <a:spcBef>
                <a:spcPts val="0"/>
              </a:spcBef>
            </a:pPr>
            <a:endParaRPr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" name="Google Shape;100;p1">
            <a:extLst>
              <a:ext uri="{FF2B5EF4-FFF2-40B4-BE49-F238E27FC236}">
                <a16:creationId xmlns:a16="http://schemas.microsoft.com/office/drawing/2014/main" id="{F774B756-C178-20A5-6CF9-E813B75FF714}"/>
              </a:ext>
            </a:extLst>
          </p:cNvPr>
          <p:cNvSpPr txBox="1">
            <a:spLocks noGrp="1"/>
          </p:cNvSpPr>
          <p:nvPr/>
        </p:nvSpPr>
        <p:spPr>
          <a:xfrm>
            <a:off x="1981200" y="1505369"/>
            <a:ext cx="8229600" cy="168337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School of Computer Science and Engineering</a:t>
            </a:r>
            <a:b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6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B.Tech</a:t>
            </a: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(CSE) 5th Semester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6782" y="1147215"/>
            <a:ext cx="59436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  <a:latin typeface="Aptos Display"/>
              </a:defRPr>
            </a:pPr>
            <a:r>
              <a:rPr dirty="0">
                <a:solidFill>
                  <a:schemeClr val="tx1"/>
                </a:solidFill>
              </a:rPr>
              <a:t>Problem &amp; Proposed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222" y="162374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97078"/>
                </a:solidFill>
                <a:latin typeface="Aptos"/>
              </a:defRPr>
            </a:pPr>
            <a:r>
              <a:rPr sz="1200" b="0">
                <a:solidFill>
                  <a:srgbClr val="697078"/>
                </a:solidFill>
                <a:latin typeface="Aptos"/>
              </a:rPr>
              <a:t>Why network-flow analysis needs an intelligent, practical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646" y="1940457"/>
            <a:ext cx="53035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1646" y="1940457"/>
            <a:ext cx="73152" cy="141732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4526" y="205932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627" y="2389950"/>
            <a:ext cx="4926349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Large volumes of network traffic and logs make manual inspection</a:t>
            </a:r>
            <a:endParaRPr lang="en-US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 slow and difficult. Signature-based detection is effective for known</a:t>
            </a:r>
            <a:endParaRPr lang="en-US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 patterns but depends on predefined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478" y="1907561"/>
            <a:ext cx="53035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8046" y="1940457"/>
            <a:ext cx="73152" cy="141732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8358" y="2026433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Our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078" y="2368319"/>
            <a:ext cx="475643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50" b="0">
                <a:solidFill>
                  <a:srgbClr val="2D2D2D"/>
                </a:solidFill>
                <a:latin typeface="Aptos"/>
              </a:rPr>
              <a:t>Use machine learning on flow-level network features to detect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unusual or suspicious traffic, then show clear alerts and event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records in a simple dashboard.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886238" y="3753865"/>
            <a:ext cx="1965960" cy="77724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Network Traffic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7918" y="4147057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29438" y="3753865"/>
            <a:ext cx="1965960" cy="77724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Flow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41118" y="4147057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72638" y="3753865"/>
            <a:ext cx="1965960" cy="77724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500" b="1">
                <a:solidFill>
                  <a:srgbClr val="183052"/>
                </a:solidFill>
                <a:latin typeface="Aptos"/>
              </a:rPr>
              <a:t>ML Anomaly Detector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84318" y="4147057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15838" y="3753865"/>
            <a:ext cx="1965960" cy="777240"/>
          </a:xfrm>
          <a:prstGeom prst="roundRect">
            <a:avLst/>
          </a:prstGeom>
          <a:solidFill>
            <a:srgbClr val="EEF7F0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Alert /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14316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1500" b="0">
                <a:solidFill>
                  <a:srgbClr val="2D2D2D"/>
                </a:solidFill>
                <a:latin typeface="Aptos"/>
              </a:rPr>
              <a:t>• Focus: traffic behaviour, not private message content</a:t>
            </a:r>
            <a:br/>
            <a:r>
              <a:rPr sz="1500" b="0">
                <a:solidFill>
                  <a:srgbClr val="2D2D2D"/>
                </a:solidFill>
                <a:latin typeface="Aptos"/>
              </a:rPr>
              <a:t>• Primary task: detect anomalous / suspicious traffic</a:t>
            </a:r>
            <a:br/>
            <a:r>
              <a:rPr sz="1500" b="0">
                <a:solidFill>
                  <a:srgbClr val="2D2D2D"/>
                </a:solidFill>
                <a:latin typeface="Aptos"/>
              </a:rPr>
              <a:t>• Goal: a reproducible end-to-end monitoring prototype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2302" y="1036349"/>
            <a:ext cx="60350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  <a:latin typeface="Aptos Display"/>
              </a:defRPr>
            </a:pPr>
            <a:r>
              <a:rPr dirty="0">
                <a:solidFill>
                  <a:schemeClr val="tx1"/>
                </a:solidFill>
              </a:rPr>
              <a:t>Data &amp; Network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182" y="155028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97078"/>
                </a:solidFill>
                <a:latin typeface="Aptos"/>
              </a:defRPr>
            </a:pPr>
            <a:r>
              <a:rPr sz="1200" b="0">
                <a:solidFill>
                  <a:srgbClr val="697078"/>
                </a:solidFill>
                <a:latin typeface="Aptos"/>
              </a:rPr>
              <a:t>CICIDS2017 provides flow records for model development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5182" y="1866581"/>
            <a:ext cx="3246120" cy="338328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5182" y="1866581"/>
            <a:ext cx="73152" cy="338328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8061" y="19854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CICIDS2017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061" y="2342069"/>
            <a:ext cx="2926079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50" b="0">
                <a:solidFill>
                  <a:srgbClr val="2D2D2D"/>
                </a:solidFill>
                <a:latin typeface="Aptos"/>
              </a:rPr>
              <a:t>Primary dataset</a:t>
            </a:r>
            <a:br/>
            <a:br/>
            <a:r>
              <a:rPr sz="1250" b="0">
                <a:solidFill>
                  <a:srgbClr val="2D2D2D"/>
                </a:solidFill>
                <a:latin typeface="Aptos"/>
              </a:rPr>
              <a:t>• Benign + attack traffic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• Labelled flow records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• Labels reserved for evaluation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• Flow duration / packet counts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• Timing and byte statistics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5622" y="1866581"/>
            <a:ext cx="3246120" cy="338328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55622" y="1866581"/>
            <a:ext cx="73152" cy="338328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8502" y="19854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Feature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502" y="2342069"/>
            <a:ext cx="2720617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Use compact flow-level information </a:t>
            </a:r>
            <a:endParaRPr lang="en-US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such as:</a:t>
            </a:r>
            <a:br>
              <a:rPr dirty="0"/>
            </a:br>
            <a:br>
              <a:rPr dirty="0"/>
            </a:br>
            <a:r>
              <a:rPr dirty="0"/>
              <a:t>• Duration</a:t>
            </a:r>
            <a:br>
              <a:rPr dirty="0"/>
            </a:br>
            <a:r>
              <a:rPr dirty="0"/>
              <a:t>• Packet direction</a:t>
            </a:r>
            <a:br>
              <a:rPr dirty="0"/>
            </a:br>
            <a:r>
              <a:rPr dirty="0"/>
              <a:t>• Packet-size statistics</a:t>
            </a:r>
            <a:br>
              <a:rPr dirty="0"/>
            </a:br>
            <a:r>
              <a:rPr dirty="0"/>
              <a:t>• Inter-arrival </a:t>
            </a:r>
            <a:r>
              <a:rPr dirty="0" err="1"/>
              <a:t>behaviour</a:t>
            </a:r>
            <a:br>
              <a:rPr dirty="0"/>
            </a:br>
            <a:r>
              <a:rPr dirty="0"/>
              <a:t>• Connection-level measurements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6062" y="1866581"/>
            <a:ext cx="3246120" cy="338328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6062" y="1866581"/>
            <a:ext cx="73152" cy="338328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8942" y="19854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Why Reduce Features?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942" y="2342069"/>
            <a:ext cx="299152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50" b="0">
                <a:solidFill>
                  <a:srgbClr val="2D2D2D"/>
                </a:solidFill>
                <a:latin typeface="Aptos"/>
              </a:rPr>
              <a:t>Too many or correlated features can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increase processing cost and add noise.</a:t>
            </a:r>
            <a:br/>
            <a:br/>
            <a:r>
              <a:rPr sz="1250" b="0">
                <a:solidFill>
                  <a:srgbClr val="2D2D2D"/>
                </a:solidFill>
                <a:latin typeface="Aptos"/>
              </a:rPr>
              <a:t>PCA / Autoencoder-based reduction can</a:t>
            </a:r>
            <a:br/>
            <a:r>
              <a:rPr sz="1250" b="0">
                <a:solidFill>
                  <a:srgbClr val="2D2D2D"/>
                </a:solidFill>
                <a:latin typeface="Aptos"/>
              </a:rPr>
              <a:t>create a compact model input.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935182" y="5607304"/>
            <a:ext cx="2103120" cy="539747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dirty="0"/>
              <a:t>Raw Flow 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38302" y="5927344"/>
            <a:ext cx="68580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24102" y="5616448"/>
            <a:ext cx="2103120" cy="530602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Clean + Prepare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27222" y="5927344"/>
            <a:ext cx="68580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13022" y="5607304"/>
            <a:ext cx="2029968" cy="539744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500" b="1">
                <a:solidFill>
                  <a:srgbClr val="183052"/>
                </a:solidFill>
                <a:latin typeface="Aptos"/>
              </a:rPr>
              <a:t>Extract / Reduce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16142" y="5927344"/>
            <a:ext cx="68580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01942" y="5607304"/>
            <a:ext cx="1753985" cy="539741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Model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0238" y="1305516"/>
            <a:ext cx="51206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  <a:latin typeface="Aptos Display"/>
              </a:defRPr>
            </a:pPr>
            <a:r>
              <a:rPr dirty="0">
                <a:solidFill>
                  <a:schemeClr val="tx1"/>
                </a:solidFill>
              </a:rPr>
              <a:t>System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345" y="191587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97078"/>
                </a:solidFill>
                <a:latin typeface="Aptos"/>
              </a:defRPr>
            </a:pPr>
            <a:r>
              <a:rPr sz="1200" b="0">
                <a:solidFill>
                  <a:srgbClr val="697078"/>
                </a:solidFill>
                <a:latin typeface="Aptos"/>
              </a:rPr>
              <a:t>Unsupervised core; supervised algorithms are retained only as comparison baselines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785" y="2278103"/>
            <a:ext cx="1874519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CICIDS2017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1305" y="2760451"/>
            <a:ext cx="5029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14225" y="2278103"/>
            <a:ext cx="1874519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Data Cleaning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8745" y="2760451"/>
            <a:ext cx="5029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91665" y="2278103"/>
            <a:ext cx="1874519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500" b="1">
                <a:solidFill>
                  <a:srgbClr val="183052"/>
                </a:solidFill>
                <a:latin typeface="Aptos"/>
              </a:rPr>
              <a:t>Feature Extraction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6185" y="2760451"/>
            <a:ext cx="502919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9104" y="2278103"/>
            <a:ext cx="1874519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500" b="1">
                <a:solidFill>
                  <a:srgbClr val="183052"/>
                </a:solidFill>
                <a:latin typeface="Aptos"/>
              </a:rPr>
              <a:t>Fit Unsupervised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43625" y="2760451"/>
            <a:ext cx="5029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8746" y="2256491"/>
            <a:ext cx="1143000" cy="658368"/>
          </a:xfrm>
          <a:prstGeom prst="roundRect">
            <a:avLst/>
          </a:prstGeom>
          <a:solidFill>
            <a:srgbClr val="EEF7F0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83052"/>
                </a:solidFill>
                <a:latin typeface="Aptos"/>
              </a:defRPr>
            </a:pPr>
            <a:r>
              <a:rPr dirty="0"/>
              <a:t>Evaluate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" y="3188973"/>
            <a:ext cx="329184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9620" y="3188973"/>
            <a:ext cx="73152" cy="150876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500" y="33078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3052"/>
                </a:solidFill>
              </a:defRPr>
            </a:pPr>
            <a:r>
              <a:rPr sz="1600" b="1">
                <a:solidFill>
                  <a:srgbClr val="183052"/>
                </a:solidFill>
                <a:latin typeface="Aptos"/>
              </a:rPr>
              <a:t>Core Unsupervised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3664461"/>
            <a:ext cx="297180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20" b="0">
                <a:solidFill>
                  <a:srgbClr val="2D2D2D"/>
                </a:solidFill>
                <a:latin typeface="Aptos"/>
              </a:rPr>
              <a:t>Isolation Forest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MiniBatch K-Means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LOF / One-Class SVM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Autoencoder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7220" y="3188973"/>
            <a:ext cx="329184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27220" y="3188973"/>
            <a:ext cx="73152" cy="1508760"/>
          </a:xfrm>
          <a:prstGeom prst="rect">
            <a:avLst/>
          </a:prstGeom>
          <a:solidFill>
            <a:srgbClr val="4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0100" y="330784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0100" y="3664461"/>
            <a:ext cx="297180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20" b="0">
                <a:solidFill>
                  <a:srgbClr val="2D2D2D"/>
                </a:solidFill>
                <a:latin typeface="Aptos"/>
              </a:rPr>
              <a:t>Precision • Recall • F1-score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False-positive rate • PR/ROC-AUC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Detection / prediction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820" y="3147826"/>
            <a:ext cx="329184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84820" y="3188973"/>
            <a:ext cx="73152" cy="1508760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7699" y="33078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3052"/>
                </a:solidFill>
              </a:defRPr>
            </a:pPr>
            <a:r>
              <a:rPr sz="1600" b="1">
                <a:solidFill>
                  <a:srgbClr val="183052"/>
                </a:solidFill>
                <a:latin typeface="Aptos"/>
              </a:rPr>
              <a:t>Proposed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7699" y="3664461"/>
            <a:ext cx="297180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20" b="0">
                <a:solidFill>
                  <a:srgbClr val="2D2D2D"/>
                </a:solidFill>
                <a:latin typeface="Aptos"/>
              </a:rPr>
              <a:t>Normalize anomaly scores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Weighted ensemble</a:t>
            </a:r>
            <a:br/>
            <a:r>
              <a:rPr sz="1220" b="0">
                <a:solidFill>
                  <a:srgbClr val="2D2D2D"/>
                </a:solidFill>
                <a:latin typeface="Aptos"/>
              </a:rPr>
              <a:t>PSO-optimize weights / threshold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8220" y="5276089"/>
            <a:ext cx="205740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dirty="0"/>
              <a:t>Captured / Replayed 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55620" y="5623561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87140" y="5276089"/>
            <a:ext cx="205740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dirty="0"/>
              <a:t>Same Preprocessing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44540" y="5623561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76060" y="5276089"/>
            <a:ext cx="205740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450" b="1">
                <a:solidFill>
                  <a:srgbClr val="183052"/>
                </a:solidFill>
                <a:latin typeface="Aptos"/>
              </a:rPr>
              <a:t>Saved Anomaly Pipeline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33460" y="5623561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64980" y="5276089"/>
            <a:ext cx="1828800" cy="685800"/>
          </a:xfrm>
          <a:prstGeom prst="roundRect">
            <a:avLst/>
          </a:prstGeom>
          <a:solidFill>
            <a:srgbClr val="EEF7F0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450" b="1">
                <a:solidFill>
                  <a:srgbClr val="183052"/>
                </a:solidFill>
                <a:latin typeface="Aptos"/>
              </a:rPr>
              <a:t>Anomaly Score / Alert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18888"/>
            <a:ext cx="10058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183052"/>
                </a:solidFill>
                <a:latin typeface="Aptos"/>
              </a:rPr>
              <a:t>Supervised baselines for comparison: Random Forest • SVM • XGBoost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18160" y="1074040"/>
            <a:ext cx="62179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  <a:latin typeface="Aptos Display"/>
              </a:defRPr>
            </a:pPr>
            <a:r>
              <a:rPr dirty="0">
                <a:solidFill>
                  <a:schemeClr val="tx1"/>
                </a:solidFill>
              </a:rPr>
              <a:t>Proposed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1591923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From network flow to a simple, understandable monitoring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62" y="1919860"/>
            <a:ext cx="205740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Network / Replay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27962" y="2331340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59482" y="1919860"/>
            <a:ext cx="205740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Flow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16882" y="2331340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48402" y="1919860"/>
            <a:ext cx="205740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Preprocessing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05802" y="2331340"/>
            <a:ext cx="73152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37322" y="1919860"/>
            <a:ext cx="2057400" cy="822960"/>
          </a:xfrm>
          <a:prstGeom prst="roundRect">
            <a:avLst/>
          </a:prstGeom>
          <a:solidFill>
            <a:srgbClr val="F2F4FA"/>
          </a:solidFill>
          <a:ln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450" b="1">
                <a:solidFill>
                  <a:srgbClr val="183052"/>
                </a:solidFill>
                <a:latin typeface="Aptos"/>
              </a:rPr>
              <a:t>Saved Anomaly Pipeline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70594" y="2742820"/>
            <a:ext cx="0" cy="68580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37322" y="3428620"/>
            <a:ext cx="2057400" cy="822960"/>
          </a:xfrm>
          <a:prstGeom prst="roundRect">
            <a:avLst/>
          </a:prstGeom>
          <a:solidFill>
            <a:srgbClr val="EEF7F0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rPr sz="1500" b="1">
                <a:solidFill>
                  <a:srgbClr val="183052"/>
                </a:solidFill>
                <a:latin typeface="Aptos"/>
              </a:rPr>
              <a:t>Anomaly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45682" y="2742820"/>
            <a:ext cx="0" cy="1325879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4122" y="4068699"/>
            <a:ext cx="2103120" cy="777240"/>
          </a:xfrm>
          <a:prstGeom prst="roundRect">
            <a:avLst/>
          </a:prstGeom>
          <a:solidFill>
            <a:srgbClr val="EFF4F9"/>
          </a:solidFill>
          <a:ln>
            <a:solidFill>
              <a:srgbClr val="31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97242" y="4452748"/>
            <a:ext cx="548640" cy="0"/>
          </a:xfrm>
          <a:prstGeom prst="line">
            <a:avLst/>
          </a:prstGeom>
          <a:ln w="25400">
            <a:solidFill>
              <a:srgbClr val="316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45882" y="4068699"/>
            <a:ext cx="2103120" cy="777240"/>
          </a:xfrm>
          <a:prstGeom prst="roundRect">
            <a:avLst/>
          </a:prstGeom>
          <a:solidFill>
            <a:srgbClr val="FCF1F1"/>
          </a:solidFill>
          <a:ln>
            <a:solidFill>
              <a:srgbClr val="B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83052"/>
                </a:solidFill>
                <a:latin typeface="Aptos"/>
              </a:defRPr>
            </a:pPr>
            <a:r>
              <a:t>Alerts + Event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320040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983480"/>
            <a:ext cx="73152" cy="96012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882" y="51934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Traffic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58968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50" b="0">
                <a:solidFill>
                  <a:srgbClr val="2D2D2D"/>
                </a:solidFill>
                <a:latin typeface="Aptos"/>
              </a:rPr>
              <a:t>Counts, anomaly scores and basic activity.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983480"/>
            <a:ext cx="320040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4983480"/>
            <a:ext cx="73152" cy="960120"/>
          </a:xfrm>
          <a:prstGeom prst="rect">
            <a:avLst/>
          </a:prstGeom>
          <a:solidFill>
            <a:srgbClr val="B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3882" y="51934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Alert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458968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  <a:latin typeface="Aptos"/>
              </a:rPr>
              <a:t>Suspicious-flow status after thresholding, with timestamp.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83480"/>
            <a:ext cx="320040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9520" y="4983480"/>
            <a:ext cx="73152" cy="960120"/>
          </a:xfrm>
          <a:prstGeom prst="rect">
            <a:avLst/>
          </a:prstGeom>
          <a:solidFill>
            <a:srgbClr val="4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02882" y="51934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Event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458968"/>
            <a:ext cx="2880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Recorded detections for review.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2920" y="978408"/>
            <a:ext cx="65836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  <a:latin typeface="Aptos Display"/>
              </a:defRPr>
            </a:pPr>
            <a:r>
              <a:rPr dirty="0">
                <a:solidFill>
                  <a:schemeClr val="tx1"/>
                </a:solidFill>
              </a:rPr>
              <a:t>Objectives, Scope &amp;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32" y="1764792"/>
            <a:ext cx="3657600" cy="34747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32" y="1764792"/>
            <a:ext cx="73152" cy="3474720"/>
          </a:xfrm>
          <a:prstGeom prst="rect">
            <a:avLst/>
          </a:prstGeom>
          <a:solidFill>
            <a:srgbClr val="31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12" y="1883664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Three Practical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12" y="2240280"/>
            <a:ext cx="333756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190" b="0">
                <a:solidFill>
                  <a:srgbClr val="2D2D2D"/>
                </a:solidFill>
                <a:latin typeface="Aptos"/>
              </a:rPr>
              <a:t>1. Clean CICIDS2017 flow data and extract a compact set of useful features.</a:t>
            </a:r>
            <a:br/>
            <a:br/>
            <a:r>
              <a:rPr sz="1190" b="0">
                <a:solidFill>
                  <a:srgbClr val="2D2D2D"/>
                </a:solidFill>
                <a:latin typeface="Aptos"/>
              </a:rPr>
              <a:t>2. Evaluate unsupervised anomaly-detection models, combine complementary models, and compare them with supervised baselines.</a:t>
            </a:r>
            <a:br/>
            <a:br/>
            <a:r>
              <a:rPr sz="1190" b="0">
                <a:solidFill>
                  <a:srgbClr val="2D2D2D"/>
                </a:solidFill>
                <a:latin typeface="Aptos"/>
              </a:rPr>
              <a:t>3. Integrate the selected anomaly-detection pipeline with captured/replayed flows and a monitoring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4212" y="1764792"/>
            <a:ext cx="3246120" cy="34747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94212" y="1764792"/>
            <a:ext cx="73152" cy="3474720"/>
          </a:xfrm>
          <a:prstGeom prst="rect">
            <a:avLst/>
          </a:prstGeom>
          <a:solidFill>
            <a:srgbClr val="4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7092" y="1883664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092" y="2240280"/>
            <a:ext cx="2926079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2D2D2D"/>
                </a:solidFill>
              </a:defRPr>
            </a:pPr>
            <a:r>
              <a:rPr sz="1180" b="0">
                <a:solidFill>
                  <a:srgbClr val="2D2D2D"/>
                </a:solidFill>
                <a:latin typeface="Aptos"/>
              </a:rPr>
              <a:t>• Flow statistics and connection metadata</a:t>
            </a:r>
            <a:br/>
            <a:r>
              <a:rPr sz="1180" b="0">
                <a:solidFill>
                  <a:srgbClr val="2D2D2D"/>
                </a:solidFill>
                <a:latin typeface="Aptos"/>
              </a:rPr>
              <a:t>• Unsupervised anomaly detection</a:t>
            </a:r>
            <a:br/>
            <a:r>
              <a:rPr sz="1180" b="0">
                <a:solidFill>
                  <a:srgbClr val="2D2D2D"/>
                </a:solidFill>
                <a:latin typeface="Aptos"/>
              </a:rPr>
              <a:t>• PCA / Autoencoder feature reduction</a:t>
            </a:r>
            <a:br/>
            <a:r>
              <a:rPr sz="1180" b="0">
                <a:solidFill>
                  <a:srgbClr val="2D2D2D"/>
                </a:solidFill>
                <a:latin typeface="Aptos"/>
              </a:rPr>
              <a:t>• Thresholding and score-level ensemble</a:t>
            </a:r>
            <a:br/>
            <a:r>
              <a:rPr sz="1180" b="0">
                <a:solidFill>
                  <a:srgbClr val="2D2D2D"/>
                </a:solidFill>
                <a:latin typeface="Aptos"/>
              </a:rPr>
              <a:t>• RF, SVM, XGBoost as comparison baselines</a:t>
            </a:r>
            <a:br/>
            <a:r>
              <a:rPr sz="1180" b="0">
                <a:solidFill>
                  <a:srgbClr val="2D2D2D"/>
                </a:solidFill>
                <a:latin typeface="Aptos"/>
              </a:rPr>
              <a:t>• Controlled replay/local testing +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4651" y="1764792"/>
            <a:ext cx="3246120" cy="3474720"/>
          </a:xfrm>
          <a:prstGeom prst="roundRect">
            <a:avLst/>
          </a:prstGeom>
          <a:solidFill>
            <a:srgbClr val="EFF4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4651" y="1764792"/>
            <a:ext cx="73152" cy="3474720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7531" y="1883664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2"/>
                </a:solidFill>
              </a:defRPr>
            </a:pPr>
            <a:r>
              <a:t>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7531" y="2240280"/>
            <a:ext cx="2926079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• Python, pandas, NumPy, scikit-learn</a:t>
            </a:r>
            <a:br/>
            <a:r>
              <a:t>• Wireshark/tshark or PyShark</a:t>
            </a:r>
            <a:br/>
            <a:r>
              <a:t>• Streamlit / Flask dashboard</a:t>
            </a:r>
            <a:br/>
            <a:r>
              <a:t>• Student laptop or lab computer</a:t>
            </a:r>
            <a:br/>
            <a:r>
              <a:t>• No special networking hardware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32" y="5454396"/>
            <a:ext cx="9966960" cy="777240"/>
          </a:xfrm>
          <a:prstGeom prst="roundRect">
            <a:avLst/>
          </a:prstGeom>
          <a:solidFill>
            <a:srgbClr val="FAF7EF"/>
          </a:solidFill>
          <a:ln>
            <a:solidFill>
              <a:srgbClr val="E1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rPr dirty="0"/>
              <a:t>Key boundary: the prototype analyses and reports suspicious traffic; it does not block hosts or modify firewalls.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46764" y="1143000"/>
            <a:ext cx="36679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1"/>
                </a:solidFill>
              </a:rPr>
              <a:t>Expected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sz="1720" b="0">
                <a:solidFill>
                  <a:srgbClr val="2D2D2D"/>
                </a:solidFill>
                <a:latin typeface="Aptos"/>
              </a:rPr>
              <a:t>• A reproducible data-cleaning and feature-extraction pipeline</a:t>
            </a:r>
            <a:br/>
            <a:r>
              <a:rPr sz="1720" b="0">
                <a:solidFill>
                  <a:srgbClr val="2D2D2D"/>
                </a:solidFill>
                <a:latin typeface="Aptos"/>
              </a:rPr>
              <a:t>• Evaluated unsupervised anomaly-detection models</a:t>
            </a:r>
            <a:br/>
            <a:r>
              <a:rPr sz="1720" b="0">
                <a:solidFill>
                  <a:srgbClr val="2D2D2D"/>
                </a:solidFill>
                <a:latin typeface="Aptos"/>
              </a:rPr>
              <a:t>• A PSO-optimized ensemble with a practical anomaly threshold</a:t>
            </a:r>
            <a:br/>
            <a:r>
              <a:rPr sz="1720" b="0">
                <a:solidFill>
                  <a:srgbClr val="2D2D2D"/>
                </a:solidFill>
                <a:latin typeface="Aptos"/>
              </a:rPr>
              <a:t>• Comparison with Random Forest, SVM and XGBoost baselines</a:t>
            </a:r>
            <a:br/>
            <a:r>
              <a:rPr sz="1720" b="0">
                <a:solidFill>
                  <a:srgbClr val="2D2D2D"/>
                </a:solidFill>
                <a:latin typeface="Aptos"/>
              </a:rPr>
              <a:t>• Replay / near-real-time monitoring with alerts and event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1436" y="5035019"/>
            <a:ext cx="2369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167A3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09960" cy="13716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588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Saroliya</dc:creator>
  <cp:lastModifiedBy>Bhupesh Mehta</cp:lastModifiedBy>
  <cp:revision>5</cp:revision>
  <dcterms:created xsi:type="dcterms:W3CDTF">2025-07-19T19:52:25Z</dcterms:created>
  <dcterms:modified xsi:type="dcterms:W3CDTF">2026-09-13T17:07:27Z</dcterms:modified>
</cp:coreProperties>
</file>